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v11.5（v5.6，舊標註）</c:v>
                </c:pt>
              </c:strCache>
            </c:strRef>
          </c:tx>
          <c:spPr>
            <a:solidFill>
              <a:srgbClr val="C9DCD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62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九類 test mAP50</c:v>
                  </c:pt>
                  <c:pt idx="1">
                    <c:v>八類平均 AP50（標註沒變）</c:v>
                  </c:pt>
                  <c:pt idx="2">
                    <c:v>薊馬葉害 test AP50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0.80959</c:v>
                </c:pt>
                <c:pt idx="1">
                  <c:v>0.85268</c:v>
                </c:pt>
                <c:pt idx="2">
                  <c:v>0.4515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v5.7（新標註）</c:v>
                </c:pt>
              </c:strCache>
            </c:strRef>
          </c:tx>
          <c:spPr>
            <a:solidFill>
              <a:srgbClr val="2C5F4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62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九類 test mAP50</c:v>
                  </c:pt>
                  <c:pt idx="1">
                    <c:v>八類平均 AP50（標註沒變）</c:v>
                  </c:pt>
                  <c:pt idx="2">
                    <c:v>薊馬葉害 test AP50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0.86118</c:v>
                </c:pt>
                <c:pt idx="1">
                  <c:v>0.85082</c:v>
                </c:pt>
                <c:pt idx="2">
                  <c:v>0.8453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A262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62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F66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620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短時間（3 輪最快）</c:v>
                </c:pt>
              </c:strCache>
            </c:strRef>
          </c:tx>
          <c:spPr>
            <a:solidFill>
              <a:srgbClr val="C9DCD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62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Snapdragon 662</c:v>
                  </c:pt>
                  <c:pt idx="1">
                    <c:v>天璣 8300 平板</c:v>
                  </c:pt>
                  <c:pt idx="2">
                    <c:v>8 Gen 2 手機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14.9</c:v>
                </c:pt>
                <c:pt idx="1">
                  <c:v>66.6</c:v>
                </c:pt>
                <c:pt idx="2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連續跑 5 分鐘（最慢一段）</c:v>
                </c:pt>
              </c:strCache>
            </c:strRef>
          </c:tx>
          <c:spPr>
            <a:solidFill>
              <a:srgbClr val="2C5F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62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Snapdragon 662</c:v>
                  </c:pt>
                  <c:pt idx="1">
                    <c:v>天璣 8300 平板</c:v>
                  </c:pt>
                  <c:pt idx="2">
                    <c:v>8 Gen 2 手機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15.8</c:v>
                </c:pt>
                <c:pt idx="1">
                  <c:v>38.4</c:v>
                </c:pt>
                <c:pt idx="2">
                  <c:v>29.8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262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62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F66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620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平板 512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46.43</c:v>
                </c:pt>
                <c:pt idx="1">
                  <c:v>52.86</c:v>
                </c:pt>
                <c:pt idx="2">
                  <c:v>55.44</c:v>
                </c:pt>
                <c:pt idx="3">
                  <c:v>59.43</c:v>
                </c:pt>
                <c:pt idx="4">
                  <c:v>60.82</c:v>
                </c:pt>
                <c:pt idx="5">
                  <c:v>60.51</c:v>
                </c:pt>
                <c:pt idx="6">
                  <c:v>61.79</c:v>
                </c:pt>
                <c:pt idx="7">
                  <c:v>61.74</c:v>
                </c:pt>
                <c:pt idx="8">
                  <c:v>62.66</c:v>
                </c:pt>
                <c:pt idx="9">
                  <c:v>63.92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手機 416</c:v>
                </c:pt>
              </c:strCache>
            </c:strRef>
          </c:tx>
          <c:spPr>
            <a:solidFill>
              <a:srgbClr val="2C5F45"/>
            </a:solidFill>
            <a:ln w="31750" cap="flat">
              <a:solidFill>
                <a:srgbClr val="2C5F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45"/>
              </a:solidFill>
              <a:ln w="9525" cap="flat">
                <a:solidFill>
                  <a:srgbClr val="2C5F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38.64</c:v>
                </c:pt>
                <c:pt idx="1">
                  <c:v>35.81</c:v>
                </c:pt>
                <c:pt idx="2">
                  <c:v>48.67</c:v>
                </c:pt>
                <c:pt idx="3">
                  <c:v>49.35</c:v>
                </c:pt>
                <c:pt idx="4">
                  <c:v>48.65</c:v>
                </c:pt>
                <c:pt idx="5">
                  <c:v>49.09</c:v>
                </c:pt>
                <c:pt idx="6">
                  <c:v>48.78</c:v>
                </c:pt>
                <c:pt idx="7">
                  <c:v>51.68</c:v>
                </c:pt>
                <c:pt idx="8">
                  <c:v>48.67</c:v>
                </c:pt>
                <c:pt idx="9">
                  <c:v>48.74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662 320</c:v>
                </c:pt>
              </c:strCache>
            </c:strRef>
          </c:tx>
          <c:spPr>
            <a:solidFill>
              <a:srgbClr val="8FA79A"/>
            </a:solidFill>
            <a:ln w="31750" cap="flat">
              <a:solidFill>
                <a:srgbClr val="8FA7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A79A"/>
              </a:solidFill>
              <a:ln w="9525" cap="flat">
                <a:solidFill>
                  <a:srgbClr val="8FA7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62.31</c:v>
                </c:pt>
                <c:pt idx="1">
                  <c:v>62.21</c:v>
                </c:pt>
                <c:pt idx="2">
                  <c:v>63.32</c:v>
                </c:pt>
                <c:pt idx="3">
                  <c:v>62.9</c:v>
                </c:pt>
                <c:pt idx="4">
                  <c:v>62.47</c:v>
                </c:pt>
                <c:pt idx="5">
                  <c:v>64.54</c:v>
                </c:pt>
                <c:pt idx="6">
                  <c:v>63.22</c:v>
                </c:pt>
                <c:pt idx="7">
                  <c:v>63.09</c:v>
                </c:pt>
                <c:pt idx="8">
                  <c:v>63.18</c:v>
                </c:pt>
                <c:pt idx="9">
                  <c:v>63.08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門檻 40 ms</c:v>
                </c:pt>
              </c:strCache>
            </c:strRef>
          </c:tx>
          <c:spPr>
            <a:solidFill>
              <a:srgbClr val="B3453A"/>
            </a:solidFill>
            <a:ln w="31750" cap="flat">
              <a:solidFill>
                <a:srgbClr val="B345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3453A"/>
              </a:solidFill>
              <a:ln w="9525" cap="flat">
                <a:solidFill>
                  <a:srgbClr val="B3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F66"/>
                    </a:solidFill>
                    <a:latin typeface="Microsoft JhengHei"/>
                  </a:defRPr>
                </a:pPr>
                <a:r>
                  <a:rPr sz="1100" b="0" i="0" u="none" strike="noStrike">
                    <a:solidFill>
                      <a:srgbClr val="5E6F66"/>
                    </a:solidFill>
                    <a:latin typeface="Microsoft JhengHei"/>
                  </a:rPr>
                  <a:t>段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62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20"/>
        </c:scaling>
        <c:delete val="0"/>
        <c:axPos val="l"/>
        <c:majorGridlines>
          <c:spPr>
            <a:ln w="12700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F66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620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÷ CPU</c:v>
                </c:pt>
              </c:strCache>
            </c:strRef>
          </c:tx>
          <c:spPr>
            <a:solidFill>
              <a:srgbClr val="2C5F4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62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Snapdragon 662</c:v>
                  </c:pt>
                  <c:pt idx="1">
                    <c:v>天璣 8300 平板</c:v>
                  </c:pt>
                  <c:pt idx="2">
                    <c:v>8 Gen 2 手機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1.05</c:v>
                </c:pt>
                <c:pt idx="1">
                  <c:v>0.52</c:v>
                </c:pt>
                <c:pt idx="2">
                  <c:v>0.37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A262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62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E4ED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F66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30 秒】開場先講這句話，再進三個數字。全場骨架：標註修好 → 交付換 v5.7（但模型沒變好）→ 即時辨識變成分裝置 → 三個要當場定的決策。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45 秒】三個數字講完就往下走，不要在這裡展開。5 → 0 是標註（兩人框數不一致的照片數。刻意不放 0.899：那是畫框重疊度、不是準確度，放成大數字容易被誤讀）、−0.002 是模型、38/30/16 是部署，後面各有一頁。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45 秒】四條線用報告庫週報與 SUMMARY.md 的同一套定義，教授看過總覽再看投影片會對得上。每條只念加粗的結論；部署端是本週的結構性變化，特別點出來。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 15 秒】逐列念「問題 → 標準 → 結果」，不要解釋細節。強調最後一欄都是照事先寫好的後果走。被質疑時翻備答的時間線。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分鐘】看圖：左邊九類變高、中間八類沒動、右邊薊馬葉害跳上去。那一跳是框定義換掉，不是模型能力。換 v5.7 的理由是數字有解釋力，不是分數變高。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分鐘】看右邊三張卡就好：入門機不行、兩台高階機只到 320。圖的重點是灰色（短時間）和綠色（連續跑）的落差——平板落差最大。下一頁講為什麼。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 15 秒】指著圖：橘線（平板）一路往上爬、綠線（手機）第 3 段突然跳上去、灰線（662）一直平——除了手機的前兩段，全都在紅線上面。換成畫面感受：相機每秒 30 張，16 FPS 大約每兩張只辨識一張。「掉得越多」的原因（算力高 → 發熱大 → 先降頻）是推測，沒量功耗。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45 秒】把球丟回去。若選「做」，下週的工作是定分級方式；若選「不做」，部署線就此收尾。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30 秒】兩個都是一句話的問題。決策 2 只需要一個秒數；決策 3 若選「追」，最便宜的是介殼蟲一致性，兩人各半小時。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15 秒】這頁講完正文結束，進備答。總長約 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正文到這裡結束。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被問到「其他解析度呢」「手機為什麼慢」時翻這頁。紅字是短時間過線、連續跑不過的兩個組合。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被問「GPU 不是比較快嗎」時翻這頁。一句話：高階機上有機會，但要另開一份計畫連同連續跑一起量；662 上 GPU 沒幫助。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被問「是不是看完結果才訂標準」時翻這頁，挑一兩列念 commit 時間就夠。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這頁不用講，被問到再看。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這頁不用講，被問到再看。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收尾把三個決策再念一次，然後開放討論。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柑橘病蟲害辨識　115 資工四A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2763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階段性進度報告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786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v12.1 → v12.3　·　2026-09-15　週二下午進度會議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10128"/>
            <a:ext cx="10911535" cy="1828800"/>
          </a:xfrm>
          <a:prstGeom prst="roundRect">
            <a:avLst>
              <a:gd name="adj" fmla="val 5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52958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這一週把還能改進的每一條路，都用事先寫好的標準量完了。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078224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標註的問題找到根因並修好、交付換成 v5.7、兩台高階裝置上即時辨識成立——但都只到 320 解析度；不新拍照片的前提下，工程手段已經用盡。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532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7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正文約 8 分鐘　·　備答另計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開場：三個數字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這一週的結論可以壓縮成這三個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1146" cy="3474720"/>
          </a:xfrm>
          <a:prstGeom prst="roundRect">
            <a:avLst>
              <a:gd name="adj" fmla="val 270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→ 0</a:t>
            </a:r>
            <a:pPr algn="l" indent="0" marL="0">
              <a:buNone/>
            </a:pPr>
            <a:r>
              <a:rPr lang="en-US" sz="20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張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8325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薊馬葉害兩人各標同樣 20 張，框數不一致的照片數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794760"/>
            <a:ext cx="2832506" cy="10973"/>
          </a:xfrm>
          <a:prstGeom prst="rect">
            <a:avLst/>
          </a:prstGeom>
          <a:solidFill>
            <a:srgbClr val="C9DC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931920"/>
            <a:ext cx="28325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改成一張葉子一個框後分歧消失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兩人畫框重疊度 0.746 → 0.899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類別保留、全類重標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274" y="1691640"/>
            <a:ext cx="3381146" cy="3474720"/>
          </a:xfrm>
          <a:prstGeom prst="roundRect">
            <a:avLst>
              <a:gd name="adj" fmla="val 270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79594" y="192024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−0.002</a:t>
            </a:r>
            <a:pPr algn="l" indent="0" marL="0">
              <a:buNone/>
            </a:pP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79594" y="2926080"/>
            <a:ext cx="28325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交付換成 v5.7 後，標註沒變的八類平均 AP50 變化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79594" y="3794760"/>
            <a:ext cx="2832506" cy="10973"/>
          </a:xfrm>
          <a:prstGeom prst="rect">
            <a:avLst/>
          </a:prstGeom>
          <a:solidFill>
            <a:srgbClr val="C9DC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79594" y="3931920"/>
            <a:ext cx="28325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 v5.7 是讓數字可信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模型並沒有變好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70469" y="1691640"/>
            <a:ext cx="3381146" cy="3474720"/>
          </a:xfrm>
          <a:prstGeom prst="roundRect">
            <a:avLst>
              <a:gd name="adj" fmla="val 270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4789" y="192024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38/30/16</a:t>
            </a:r>
            <a:pPr algn="l" indent="0" marL="0">
              <a:buNone/>
            </a:pPr>
            <a:r>
              <a:rPr lang="en-US" sz="20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FPS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444789" y="2926080"/>
            <a:ext cx="28325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320 解析度連續跑 5 分鐘後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平板、手機、662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44789" y="3794760"/>
            <a:ext cx="2832506" cy="10973"/>
          </a:xfrm>
          <a:prstGeom prst="rect">
            <a:avLst/>
          </a:prstGeom>
          <a:solidFill>
            <a:srgbClr val="C9DCD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44789" y="3931920"/>
            <a:ext cx="28325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兩台高階機成立、662 不成立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下一個解析度連續跑都不行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進度：四條線的收斂狀態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與報告庫的 09-13 週報表 6-1、成果總覽 SUMMARY.md 同一套定義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877824"/>
          </a:xfrm>
          <a:prstGeom prst="roundRect">
            <a:avLst>
              <a:gd name="adj" fmla="val 10417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37944"/>
            <a:ext cx="493776" cy="493776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37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模型端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746504"/>
            <a:ext cx="8214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連續四輪、十一種改動全部無效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139696"/>
            <a:ext cx="9677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v9 六臂消融零臂通過 2σ 門檻；v12s 放大 3.84 倍參數只換到 +0.003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0911535" cy="877824"/>
          </a:xfrm>
          <a:prstGeom prst="roundRect">
            <a:avLst>
              <a:gd name="adj" fmla="val 10417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43784"/>
            <a:ext cx="493776" cy="493776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843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61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訓練協定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752344"/>
            <a:ext cx="8214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有效，但修的是可報告的評估精度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45536"/>
            <a:ext cx="9677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固定輪數並報 last.pt，valid 可與 test 併計，逐類 ±2SE 最差值 0.140 → 0.099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11535" cy="877824"/>
          </a:xfrm>
          <a:prstGeom prst="roundRect">
            <a:avLst>
              <a:gd name="adj" fmla="val 1041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849624"/>
            <a:ext cx="493776" cy="49377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849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767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部署端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58184"/>
            <a:ext cx="8214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662 不採用；兩台高階裝置在 320 成立——從「不採用」變成「分裝置」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51376"/>
            <a:ext cx="9677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662 延遲與精度沒有交集；高階裝置 fp32@320 連續跑 38.4 / 29.8 FPS，下一個解析度被持續負載擋下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0911535" cy="877824"/>
          </a:xfrm>
          <a:prstGeom prst="roundRect">
            <a:avLst>
              <a:gd name="adj" fmla="val 10417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855464"/>
            <a:ext cx="493776" cy="493776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855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7731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資料端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4764024"/>
            <a:ext cx="8214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外部影像無效；重標有效但未讓模型變好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157216"/>
            <a:ext cx="9677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外部影像 +0.021；重標後八類平均 −0.002；工作包 A、B 都已結案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7607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四條線都被預先登記的判準關閉；兩個有效的手段修的是「數字能不能被相信」，沒有一個讓模型變好。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本期回答的七個問題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兩輪標註、兩台高階裝置各併成一列　·　每一個的標準都寫在量測之前，沒有一個是看完結果才決定怎麼算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37560"/>
                <a:gridCol w="2880360"/>
                <a:gridCol w="1950415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事先寫好的標準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上要不要做即時辨識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每張 ≤ 40 ms（25 FPS）且精度 ≥ 0.764 且沒有一類掉超過 0.10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速度全過、精度全不過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只做拍照辨識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薊馬葉害的框能不能畫得一致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兩人重疊度中位數 ≥ 0.85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0.746 → 改規則後 0.899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類別保留，全類重標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外部潛葉蛾照片有沒有用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潛葉蛾 AP50 要多 0.04 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+0.021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無效，不交付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重標能不能解除薊馬葉害的矛盾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valid 與 test 差距 &lt; 0.165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−0.202 → +0.121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三輪不收斂的問題解除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高階裝置上能不能做即時辨識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前面三條，再加「連續跑也要 ≤ 40 ms」；兩台同一份標準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96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兩台都是 320 過（38／30 FPS）；下一個解析度連續跑不過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只到 320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86400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605272"/>
            <a:ext cx="10271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判準比量測早：</a:t>
            </a:r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途中補定的細節、662 的補量協定，也都在對應量測之前 commit——時間可以從 git 紀錄查到（備答有時間線）。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多講一分鐘：為什麼 0.861 不是進步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新規則讓薊馬葉害的框變大 1.36 倍，而 AP50 只要重疊 ≥ 0.5 就算對——框愈大愈容易算對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1264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45920"/>
            <a:ext cx="4465015" cy="1143000"/>
          </a:xfrm>
          <a:prstGeom prst="roundRect">
            <a:avLst>
              <a:gd name="adj" fmla="val 8000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60920" y="175564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看起來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048256"/>
            <a:ext cx="3916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0.810 → 0.861</a:t>
            </a:r>
            <a:pPr indent="0" marL="0">
              <a:buNone/>
            </a:pPr>
            <a:r>
              <a:rPr lang="en-US" sz="14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進步 0.05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086600" y="2926080"/>
            <a:ext cx="4465015" cy="1143000"/>
          </a:xfrm>
          <a:prstGeom prst="roundRect">
            <a:avLst>
              <a:gd name="adj" fmla="val 8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60920" y="3035808"/>
            <a:ext cx="3916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但其中 +0.044 是薊馬葉害一類貢獻的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3383280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 test 升了 +0.394，除以 9 類就是 +0.044。框變大、更容易命中，不是模型變好。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4206240"/>
            <a:ext cx="4465015" cy="1234440"/>
          </a:xfrm>
          <a:prstGeom prst="roundRect">
            <a:avLst>
              <a:gd name="adj" fmla="val 740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60920" y="4315968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拿掉它，只看標註沒變的八類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4645152"/>
            <a:ext cx="391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−0.002</a:t>
            </a:r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0.8527 → 0.8508，等於沒變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要報 0.861 時，一定要同時說「新標註約定下、不能跟舊數字比」。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部署：三台裝置、同一套方法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320 解析度的 FPS　·　門檻 25 FPS（每張 40 ms）　·　相機預覽最多每秒 30 張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45920"/>
            <a:ext cx="4099255" cy="1161288"/>
          </a:xfrm>
          <a:prstGeom prst="roundRect">
            <a:avLst>
              <a:gd name="adj" fmla="val 7874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755648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Snapdragon 662（入門手機）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029968"/>
            <a:ext cx="3550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不成立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432304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本來就只有 15–16 FPS，連續跑也不變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52360" y="2944368"/>
            <a:ext cx="4099255" cy="1161288"/>
          </a:xfrm>
          <a:prstGeom prst="roundRect">
            <a:avLst>
              <a:gd name="adj" fmla="val 787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3054096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天璣 8300 平板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328416"/>
            <a:ext cx="3550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成立，只到 320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730752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512 短時間 25 FPS 過線，連續跑剩 16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52360" y="4242816"/>
            <a:ext cx="4099255" cy="1161288"/>
          </a:xfrm>
          <a:prstGeom prst="roundRect">
            <a:avLst>
              <a:gd name="adj" fmla="val 787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4352544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Snapdragon 8 Gen 2 手機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626864"/>
            <a:ext cx="3550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成立，只到 320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502920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416 短時間 28 FPS 過線，連續跑剩 19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150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兩台高階機都只到 320。</a:t>
            </a:r>
            <a:pPr indent="0" marL="0">
              <a:buNone/>
            </a:pPr>
            <a:r>
              <a:rPr lang="en-US" sz="14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662 與這兩台之間的中階裝置沒有量——界線在哪裡，現在不知道。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FPS = 1000 ÷ 每張毫秒數，是模型本身的上限，不含相機取像與畫框　·　逐解析度、GPU、NNAPI 見備答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多講一分鐘：為什麼要量「連續跑」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 10 段、每段約 30 秒的平均延遲（ms）——越高越慢，40 ms 以上就不及格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720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870655" cy="1161288"/>
          </a:xfrm>
          <a:prstGeom prst="roundRect">
            <a:avLst>
              <a:gd name="adj" fmla="val 7874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36992" y="1755648"/>
            <a:ext cx="33585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 · 512 解析度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36992" y="2011680"/>
            <a:ext cx="33585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→ 16 FPS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2432304"/>
            <a:ext cx="3358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 30 秒表面 35 → 47 °C，開始降頻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2944368"/>
            <a:ext cx="3870655" cy="1161288"/>
          </a:xfrm>
          <a:prstGeom prst="roundRect">
            <a:avLst>
              <a:gd name="adj" fmla="val 7874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36992" y="3054096"/>
            <a:ext cx="33585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· 416 解析度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36992" y="3310128"/>
            <a:ext cx="33585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→ 19 FPS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730752"/>
            <a:ext cx="3358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沒有過熱，第 3 段起整段掉到另一個檔位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80960" y="4242816"/>
            <a:ext cx="3870655" cy="1161288"/>
          </a:xfrm>
          <a:prstGeom prst="roundRect">
            <a:avLst>
              <a:gd name="adj" fmla="val 7874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36992" y="4352544"/>
            <a:ext cx="33585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662 · 320 解析度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936992" y="4608576"/>
            <a:ext cx="33585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→ 16 FPS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5029200"/>
            <a:ext cx="3358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 10 段完全沒變慢，只是本來就太慢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5650992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BEEDF"/>
          </a:solidFill>
          <a:ln w="12700">
            <a:solidFill>
              <a:srgbClr val="FBEE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705856"/>
            <a:ext cx="10362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跑得越快的晶片，連續跑掉得越多：</a:t>
            </a:r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 1.6–1.7 倍、手機 1.05–1.4 倍、662 不掉。只看短時間的數字，會以為高階機的下一個解析度也可以做即時辨識。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要在這場會議上決定的事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658368" cy="65836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042416"/>
            <a:ext cx="10042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要不要依裝置等級開放即時辨識？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72888" cy="2514600"/>
          </a:xfrm>
          <a:prstGeom prst="roundRect">
            <a:avLst>
              <a:gd name="adj" fmla="val 3636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8600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5292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高階機開即時辨識（320），其他只做拍照辨識。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6616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還需要：決定怎麼界定「高階」——662 與兩台高階機之間的中階裝置沒有量，界線在哪裡不知道。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8728" y="2103120"/>
            <a:ext cx="5272888" cy="2514600"/>
          </a:xfrm>
          <a:prstGeom prst="roundRect">
            <a:avLst>
              <a:gd name="adj" fmla="val 3636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85292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全部只做拍照辨識。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356616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不需要再量：三台結果寫進報告，當作實測上限。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0292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這是產品決策——技術面三台都量清楚了。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要在這場會議上決定的事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 2 與決策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3931920"/>
          </a:xfrm>
          <a:prstGeom prst="roundRect">
            <a:avLst>
              <a:gd name="adj" fmla="val 2326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20824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拍照模式可以接受多久出結果？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有了這個上限，才能在三個組合之間選：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3264408"/>
            <a:ext cx="148132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26440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fp32@320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3264408"/>
            <a:ext cx="148132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326440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fp32@640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51960" y="3264408"/>
            <a:ext cx="148132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326440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w8a32@640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06908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選定之後只需要把 v5.7 的權重重新匯出那一個組合、重評精度。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377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需要：團隊給「按下快門後多久要出結果」的上限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78728" y="1691640"/>
            <a:ext cx="5272888" cy="3931920"/>
          </a:xfrm>
          <a:prstGeom prst="roundRect">
            <a:avLst>
              <a:gd name="adj" fmla="val 2326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8768" y="1984248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9876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84568" y="2020824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剩下的時間要不要繼續追模型精度？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98768" y="2743200"/>
            <a:ext cx="46328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工程手段已經用盡：改架構、放大模型、調匯出參數、加外部照片，全部量過都沒用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剩下有依據的只有兩件：量介殼蟲的框一致性（兩人各半小時），或補拍同域照片（約 353 張）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不追的話，剩下的時間用來收尾文件與報告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依決策結果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420624" cy="420624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01952"/>
            <a:ext cx="2372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 1 選「做」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決定裝置分級的方式；需要的話量一支中階機，用同一份判準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3938" y="16916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8258" y="1892808"/>
            <a:ext cx="420624" cy="420624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825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06898" y="1901952"/>
            <a:ext cx="2372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 2 有上限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24688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選定拍照模式的組合，以 v5.7 權重重新匯出並重評精度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2117" y="1892808"/>
            <a:ext cx="420624" cy="420624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2117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50757" y="1901952"/>
            <a:ext cx="2372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 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4688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選「追」→ 發派介殼蟲的一致性測試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選「不追」→ 收尾文件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37490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已完成：</a:t>
            </a:r>
            <a:pPr indent="0" marL="0">
              <a:buNone/>
            </a:pPr>
            <a:r>
              <a:rPr lang="en-US" sz="14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天璣 8300、Snapdragon 8 Gen 2、三台整合三篇實機測試報告已推上報告庫；報告庫的 09-13 週報已補入高階裝置，並新增給教授與評審看的成果總覽 SUMMARY.md。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10911535" cy="160020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82803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已經有結論、不要再花時間的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230368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模型架構與損失改動　·　放大模型　·　官方匯出參數　·　662 上的即時辨識　·　NNAPI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影像合成與生成　·　自動標註（色彩門檻找框、以現有模型預標）　·　外部影像（除非拿得到同域照片）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刪除薊馬葉害　·　只憑短時間量測下即時辨識的結論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備答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6499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以下幾頁是被問到才翻的資料　·　三台數據總表、GPU 與 NNAPI、判準時間線、常見提問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三台 Benchmark 總表（FPS）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 8 個 fp32 檔案、同一套量測方法　·　延遲與 mAP50 都來自 v11.5 權重的匯出檔，交付的 v5.7 尚未重新匯出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45743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組合（end2end 開）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短時間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連續跑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平板 短時間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平板 連續跑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 短時間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 連續跑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mAP50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fp32@320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14.9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66.6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32.0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29.8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0.785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fp32@416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9.1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39.0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fp32@512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18.9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fp32@640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11.8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fp32@640 · end2end 關 · GPU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29.6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30.7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E6F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0.816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5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不成立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成立，只到 320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5F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成立，只到 320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83480"/>
            <a:ext cx="5295748" cy="1005840"/>
          </a:xfrm>
          <a:prstGeom prst="roundRect">
            <a:avLst>
              <a:gd name="adj" fmla="val 909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07492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平板比 662 快 4.3–4.5 倍，</a:t>
            </a:r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各解析度一致，差距是純算力。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55868" y="4983480"/>
            <a:ext cx="5295748" cy="1005840"/>
          </a:xfrm>
          <a:prstGeom prst="roundRect">
            <a:avLst>
              <a:gd name="adj" fmla="val 9091"/>
            </a:avLst>
          </a:prstGeom>
          <a:solidFill>
            <a:srgbClr val="FBEEDF"/>
          </a:solidFill>
          <a:ln w="12700">
            <a:solidFill>
              <a:srgbClr val="FBEE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0188" y="507492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手機只快 2.1–3.2 倍，320 最吃虧；</a:t>
            </a:r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閒置時 CPU 頻率上限就只有 50–59%，原因未查明。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FPS = 1000 ÷ 有效延遲（end2end 關另加 2 ms）；短時間取 3 輪最快、連續跑取最後 3 段最慢　·　「沒量」是依計畫只量指定組合，不是失敗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GPU 與 NNAPI：只有高階機的 GPU 有用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fp32@640、end2end 關：GPU 延遲 ÷ CPU 延遲（小於 1 才是變快）　·　各只量 1 輪，不構成判定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45920"/>
            <a:ext cx="5196535" cy="932688"/>
          </a:xfrm>
          <a:prstGeom prst="roundRect">
            <a:avLst>
              <a:gd name="adj" fmla="val 9804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737360"/>
            <a:ext cx="4647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end2end 決定 GPU 能不能整張接手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048256"/>
            <a:ext cx="4647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關掉時 511/511 個節點全交給 GPU；開著只有 54/559，偵測頭的算子不被支援。三台一致。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2679192"/>
            <a:ext cx="5196535" cy="932688"/>
          </a:xfrm>
          <a:prstGeom prst="roundRect">
            <a:avLst>
              <a:gd name="adj" fmla="val 980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2770632"/>
            <a:ext cx="4647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640 在兩台高階機約 31 ms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081528"/>
            <a:ext cx="4647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 31.8、手機 30.6 ms，是唯一「精度最高又在 40 ms 內」的組合；662 整張交給 GPU 仍是 282 ms，沒變快。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3712464"/>
            <a:ext cx="5196535" cy="932688"/>
          </a:xfrm>
          <a:prstGeom prst="roundRect">
            <a:avLst>
              <a:gd name="adj" fmla="val 9804"/>
            </a:avLst>
          </a:prstGeom>
          <a:solidFill>
            <a:srgbClr val="FBEEDF"/>
          </a:solidFill>
          <a:ln w="12700">
            <a:solidFill>
              <a:srgbClr val="FBEE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3803904"/>
            <a:ext cx="4647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但還不能用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4114800"/>
            <a:ext cx="4647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只量 1 輪、沒有連續跑、GPU 管線的後處理成本沒量——要另外登記一份計畫再量。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55080" y="4745736"/>
            <a:ext cx="5196535" cy="932688"/>
          </a:xfrm>
          <a:prstGeom prst="roundRect">
            <a:avLst>
              <a:gd name="adj" fmla="val 9804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4837176"/>
            <a:ext cx="4647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NNAPI 三台都不用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5148072"/>
            <a:ext cx="4647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662 與手機只有 Android 內建的參考實作、沒生效；平板交給 MediaTek 加速器反而慢 1.7–5.4 倍。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判準都比量測早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每一條都可以從 git 紀錄或登記文件查到時間（與報告庫週報表 2-1 一致）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3677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72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5727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標註一致性門檻：兩人中位 IoU ≥ 0.85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572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v11 計畫書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57276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09-12 才量工作包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12140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8541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1214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09-11 上午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12140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v12.2 即時辨識採用門檻登記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1214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66747bd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12140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同日下午才量 662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267004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73405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2670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09-12 23:44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6700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薊馬葉害「一張葉子一個框」重測規則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670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2914698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67004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23:51、23:53 才有重測結果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21868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28269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3218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09-13 凌晨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32186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外部影像增益 0.04、矛盾門檻 0.165（驗收文件）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3218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fc729a9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21868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之後才訓練兩臂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376732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83133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3767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09-13 18:40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108960" y="37673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v12.3 高階裝置門檻，新增「連續跑也要 ≤ 40 ms」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3767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e15e916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76732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18:43 才開始量平板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431596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437997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4379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417320" y="4315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09-13 晚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108960" y="43159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320 取 e2e1、兩組之間冷卻看表面溫度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635240" y="4315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384db65、3e620fd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326880" y="431596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各自在對應那組開跑之前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0080" y="486460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F6F9F7"/>
          </a:solidFill>
          <a:ln w="12700">
            <a:solidFill>
              <a:srgbClr val="F6F9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492861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2960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417320" y="48646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09-13 22:26 前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08960" y="486460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溫度讀取改為不分廠牌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7635240" y="48646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7f6df28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326880" y="486460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之後才開始量手機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40080" y="5413248"/>
            <a:ext cx="10911535" cy="475488"/>
          </a:xfrm>
          <a:prstGeom prst="roundRect">
            <a:avLst>
              <a:gd name="adj" fmla="val 1923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5477256"/>
            <a:ext cx="347472" cy="347472"/>
          </a:xfrm>
          <a:prstGeom prst="ellipse">
            <a:avLst/>
          </a:prstGeom>
          <a:solidFill>
            <a:srgbClr val="2C5F4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2960" y="5477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417320" y="54132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09-13 23:49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3108960" y="5413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662 補量協定登記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7635240" y="54132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b465196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326880" y="5413248"/>
            <a:ext cx="2041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同一分鐘才開始補量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量完之後，判準一條都沒有改。途中補定的都是登記文件沒寫到的細節，而且都寫在結果文件裡。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備答：可能會被問到的（1／2）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標註、模型與部署結論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1153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162495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一句話回答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0.861 比 0.810 高，是不是進步了？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不是。框定義換了，框變大就容易算對；標註沒變的八類平均是 −0.002，等於沒變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0.899 是模型的準確度嗎？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不是。那是兩個人各自畫框的重疊度（IoU 中位數），用來判斷標註規則畫不畫得一致，和模型無關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那為什麼要換成 v5.7？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舊的薊馬葉害框彼此矛盾，那個類別的數字量到的是標註噪聲；換了之後數字才有解釋力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為什麼不直接刪掉薊馬葉害？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它是唯一符合田間場景的薊馬訊號，刪掉數字也不會變好；改規則重測一次就通過了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外部照片為什麼沒用？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那批是摘下的葉子放白紙上拍，跟田間照差很多，而且 124 張只來自約 20–25 片葉子；加資料的潛葉蛾和沒加資料的油斑病動得一樣多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兩台高階機都過了，是不是可以做即時辨識？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只到 320，而且各只有一台；中階裝置沒有量，界線在哪裡不知道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 30 FPS 比平板慢，為什麼也算過？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標準是 40 ms（25 FPS）；手機連續跑最慢的一段是 33.5 ms，還有 6.5 ms 餘裕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備答：可能會被問到的（2／2）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881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6F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裝置差異、662 補量、GPU 與判準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162495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一句話回答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Gen 2 比天璣 8300 強，手機為何較慢？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這支手機閒置時 CPU 頻率上限就被壓在一半左右，來源沒查到；照出廠狀態量、不改系統設定，結論只代表這支手機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短時間已經過線，為什麼算不行？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即時辨識是一直在跑的；平板 30 秒內就降頻，手機跑到第 3 段就掉檔，連續跑都超過 40 ms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連續跑會不會更慢？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不會。補量時連續跑 10 段都在 63 ms 左右、完全沒變慢；只是本來就只有 16 FPS，離門檻太遠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的舊數字只量一輪，可信嗎？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用跟另外兩台一樣的方法（3 輪交錯）重量過了，8 個檔案差距都在 ±3.1% 以內，結論不變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GPU 跑 640 只要約 31 ms，為什麼不用？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只在兩台高階機上成立，662 整張交給 GPU 也沒變快；而且只量一輪、沒連續跑、沒量後處理，要另外登記計畫再量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662 的結論會改嗎？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不會。662 的問題是晶片速度，換模型、調參數、用 GPU 都補不上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還有辦法讓模型更準嗎？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不拍照片的前提下沒有了；剩下量介殼蟲的標註一致性，或補拍照片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E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這些判準是不是看完結果才訂的？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62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不是。每一份判準都比量測早 commit，時間可以從 git 紀錄查到（見前一頁）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需要當場決定的三件事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359152"/>
            <a:ext cx="512064" cy="51206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240280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要不要依裝置等級開放即時辨識？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70048"/>
            <a:ext cx="9539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 → 高階機開 320，要先定分級方式　·　不做 → 全部拍照辨識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547872"/>
            <a:ext cx="512064" cy="51206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429000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拍照模式可以接受多久出結果？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858768"/>
            <a:ext cx="9539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有了上限才能在 fp32@320、fp32@640、w8a32@640 之間選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911535" cy="1024128"/>
          </a:xfrm>
          <a:prstGeom prst="roundRect">
            <a:avLst>
              <a:gd name="adj" fmla="val 8929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736592"/>
            <a:ext cx="512064" cy="51206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736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617720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剩下的時間要不要繼續追模型精度？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47488"/>
            <a:ext cx="9539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 → 介殼蟲一致性或補拍照片　·　不追 → 收尾文件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6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技術面三台都量清楚了。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柑橘病蟲害辨識 階段性進度報告 v12.3</dc:title>
  <dc:subject>PptxGenJS Presentation</dc:subject>
  <dc:creator>Claude Code</dc:creator>
  <cp:lastModifiedBy>Claude Code</cp:lastModifiedBy>
  <cp:revision>1</cp:revision>
  <dcterms:created xsi:type="dcterms:W3CDTF">2026-09-14T15:00:47Z</dcterms:created>
  <dcterms:modified xsi:type="dcterms:W3CDTF">2026-09-14T15:00:47Z</dcterms:modified>
</cp:coreProperties>
</file>