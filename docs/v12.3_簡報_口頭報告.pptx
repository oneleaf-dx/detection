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v11.5（v5.6，舊標註）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0.80959</c:v>
                </c:pt>
                <c:pt idx="1">
                  <c:v>0.85268</c:v>
                </c:pt>
                <c:pt idx="2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v5.7（新標註）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0.86118</c:v>
                </c:pt>
                <c:pt idx="1">
                  <c:v>0.85082</c:v>
                </c:pt>
                <c:pt idx="2">
                  <c:v>0.8453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短時間（3 輪最快）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66.6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連續跑 5 分鐘（最慢一段）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15.8</c:v>
                </c:pt>
                <c:pt idx="1">
                  <c:v>38.4</c:v>
                </c:pt>
                <c:pt idx="2">
                  <c:v>29.8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平板 512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46.43</c:v>
                </c:pt>
                <c:pt idx="1">
                  <c:v>52.86</c:v>
                </c:pt>
                <c:pt idx="2">
                  <c:v>55.44</c:v>
                </c:pt>
                <c:pt idx="3">
                  <c:v>59.43</c:v>
                </c:pt>
                <c:pt idx="4">
                  <c:v>60.82</c:v>
                </c:pt>
                <c:pt idx="5">
                  <c:v>60.51</c:v>
                </c:pt>
                <c:pt idx="6">
                  <c:v>61.79</c:v>
                </c:pt>
                <c:pt idx="7">
                  <c:v>61.74</c:v>
                </c:pt>
                <c:pt idx="8">
                  <c:v>62.66</c:v>
                </c:pt>
                <c:pt idx="9">
                  <c:v>63.92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手機 416</c:v>
                </c:pt>
              </c:strCache>
            </c:strRef>
          </c:tx>
          <c:spPr>
            <a:solidFill>
              <a:srgbClr val="2C5F45"/>
            </a:solidFill>
            <a:ln w="31750" cap="flat">
              <a:solidFill>
                <a:srgbClr val="2C5F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5F45"/>
              </a:solidFill>
              <a:ln w="9525" cap="flat">
                <a:solidFill>
                  <a:srgbClr val="2C5F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38.64</c:v>
                </c:pt>
                <c:pt idx="1">
                  <c:v>35.81</c:v>
                </c:pt>
                <c:pt idx="2">
                  <c:v>48.67</c:v>
                </c:pt>
                <c:pt idx="3">
                  <c:v>49.35</c:v>
                </c:pt>
                <c:pt idx="4">
                  <c:v>48.65</c:v>
                </c:pt>
                <c:pt idx="5">
                  <c:v>49.09</c:v>
                </c:pt>
                <c:pt idx="6">
                  <c:v>48.78</c:v>
                </c:pt>
                <c:pt idx="7">
                  <c:v>51.68</c:v>
                </c:pt>
                <c:pt idx="8">
                  <c:v>48.67</c:v>
                </c:pt>
                <c:pt idx="9">
                  <c:v>48.74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662 320</c:v>
                </c:pt>
              </c:strCache>
            </c:strRef>
          </c:tx>
          <c:spPr>
            <a:solidFill>
              <a:srgbClr val="8FA79A"/>
            </a:solidFill>
            <a:ln w="31750" cap="flat">
              <a:solidFill>
                <a:srgbClr val="8FA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A79A"/>
              </a:solidFill>
              <a:ln w="9525" cap="flat">
                <a:solidFill>
                  <a:srgbClr val="8FA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62.31</c:v>
                </c:pt>
                <c:pt idx="1">
                  <c:v>62.21</c:v>
                </c:pt>
                <c:pt idx="2">
                  <c:v>63.32</c:v>
                </c:pt>
                <c:pt idx="3">
                  <c:v>62.9</c:v>
                </c:pt>
                <c:pt idx="4">
                  <c:v>62.47</c:v>
                </c:pt>
                <c:pt idx="5">
                  <c:v>64.54</c:v>
                </c:pt>
                <c:pt idx="6">
                  <c:v>63.22</c:v>
                </c:pt>
                <c:pt idx="7">
                  <c:v>63.09</c:v>
                </c:pt>
                <c:pt idx="8">
                  <c:v>63.18</c:v>
                </c:pt>
                <c:pt idx="9">
                  <c:v>63.08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門檻 40 ms</c:v>
                </c:pt>
              </c:strCache>
            </c:strRef>
          </c:tx>
          <c:spPr>
            <a:solidFill>
              <a:srgbClr val="B3453A"/>
            </a:solidFill>
            <a:ln w="31750" cap="flat">
              <a:solidFill>
                <a:srgbClr val="B345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453A"/>
              </a:solidFill>
              <a:ln w="9525" cap="flat">
                <a:solidFill>
                  <a:srgbClr val="B345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F66"/>
                    </a:solidFill>
                    <a:latin typeface="Microsoft JhengHei"/>
                  </a:defRPr>
                </a:pPr>
                <a:r>
                  <a:rPr sz="1100" b="0" i="0" u="none" strike="noStrike">
                    <a:solidFill>
                      <a:srgbClr val="5E6F66"/>
                    </a:solidFill>
                    <a:latin typeface="Microsoft JhengHei"/>
                  </a:rPr>
                  <a:t>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2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÷ CPU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1.05</c:v>
                </c:pt>
                <c:pt idx="1">
                  <c:v>0.52</c:v>
                </c:pt>
                <c:pt idx="2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秒】開場先講這句話，再進三個數字。全場骨架：標註修好 → 交付換 v5.7（但模型沒變好）→ 即時辨識變成分裝置 → 三個要當場定的決策。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秒】三個數字講完就往下走，不要在這裡展開。0.899 是標註、−0.002 是模型、38/30/16 是部署，後面各有一頁。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秒】四條線用報告庫週報與 SUMMARY.md 的同一套定義，教授看過總覽再看投影片會對得上。每條只念加粗的結論；部署端是本週的結構性變化，特別點出來。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秒】逐列念「問題 → 標準 → 結果」，不要解釋細節。強調最後一欄都是照事先寫好的後果走。被質疑時翻備答的時間線。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分鐘】看圖：左邊九類變高、中間八類沒動、右邊薊馬葉害跳上去。那一跳是框定義換掉，不是模型能力。換 v5.7 的理由是數字有解釋力，不是分數變高。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分鐘】看右邊三張卡就好：入門機不行、兩台高階機只到 320。圖的重點是灰色（短時間）和綠色（連續跑）的落差——平板落差最大。下一頁講為什麼。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秒】指著圖：橘線（平板）一路往上爬、綠線（手機）第 3 段突然跳上去、灰線（662）一直平——除了手機的前兩段，全都在紅線上面。換成畫面感受：相機每秒 30 張，16 FPS 大約每兩張只辨識一張。「掉得越多」的原因（算力高 → 發熱大 → 先降頻）是推測，沒量功耗。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秒】把球丟回去。若選「做」，下週的工作是定分級方式；若選「不做」，部署線就此收尾。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秒】兩個都是一句話的問題。決策 2 只需要一個秒數；決策 3 若選「追」，最便宜的是介殼蟲一致性，兩人各半小時。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15 秒】這頁講完正文結束，進備答。總長約 8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被問到「其他解析度呢」「手機為什麼慢」時翻這頁。紅字是短時間過線、連續跑不過的兩個組合。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被問「GPU 不是比較快嗎」時翻這頁。一句話：高階機上有機會，但要另開一份計畫連同連續跑一起量；662 上 GPU 沒幫助。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被問「是不是看完結果才訂標準」時翻這頁，挑一兩列念 commit 時間就夠。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收尾把三個決策再念一次，然後開放討論。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v12.1 → v12.3　·　2026-09-15　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這一週把還能改進的每一條路，都用事先寫好的標準量完了。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7822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標註的問題找到根因並修好、交付換成 v5.7、兩台高階裝置上即時辨識成立——但都只到 320 解析度；不新拍照片的前提下，工程手段已經用盡。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32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0.899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薊馬葉害改成「一張葉子一個框」後，兩個人畫框的一致性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 0.85（舊規則只有 0.746）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類別保留、全類重標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5274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9594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79594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交付換成 v5.7 後，標註沒變的八類平均 AP50 變化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79594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9594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 v5.7 是讓數字可信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模型並沒有變好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70469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44789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38/30/16</a:t>
            </a:r>
            <a:pPr algn="l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444789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解析度連續跑 5 分鐘後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平板、手機、662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44789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兩台高階機成立、662 不成立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下一個解析度連續跑都不行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進度：四條線的收斂狀態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與報告庫的 09-13 週報表 6-1、成果總覽 SUMMARY.md 同一套定義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37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模型端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4650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連續四輪、十一種改動全部無效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3969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六臂消融零臂通過 2σ 門檻；v12s 放大 3.84 倍參數只換到 +0.003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4378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437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訓練協定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75234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有效，但修的是可報告的評估精度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4553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固定輪數並報 last.pt，valid 可與 test 併計，逐類 ±2SE 最差值 0.140 → 0.099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849624"/>
            <a:ext cx="493776" cy="49377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3849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7673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部署端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5818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不採用；兩台高階裝置在 320 成立——從「不採用」變成「分裝置」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15137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延遲與精度沒有交集；高階裝置 fp32@320 連續跑 38.4 / 29.8 FPS，下一個解析度被持續負載擋下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8554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7731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資料端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6402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外部影像無效；重標有效但未讓模型變好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15721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 +0.021；重標後八類平均 −0.002；工作包 A、B 都已結案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7607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四條線都被預先登記的判準關閉；兩個有效的手段修的是「數字能不能被相信」，沒有一個讓模型變好。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本期回答的七個問題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兩輪標註、兩台高階裝置各併成一列　·　每一個的標準都寫在量測之前，沒有一個是看完結果才決定怎麼算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37560"/>
                <a:gridCol w="2880360"/>
                <a:gridCol w="1950415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事先寫好的標準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上要不要做即時辨識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每張 ≤ 40 ms（25 FPS）且精度 ≥ 0.764 且沒有一類掉超過 0.10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速度全過、精度全不過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只做拍照辨識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薊馬葉害的框能不能畫得一致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兩人重疊度中位數 ≥ 0.85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0.746 → 改規則後 0.899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類別保留，全類重標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外部潛葉蛾照片有沒有用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潛葉蛾 AP50 要多 0.04 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無效，不交付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重標能不能解除薊馬葉害的矛盾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與 test 差距 &lt; 0.165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−0.202 → +0.121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三輪不收斂的問題解除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高階裝置上能不能做即時辨識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前面三條，再加「連續跑也要 ≤ 40 ms」；兩台同一份標準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兩台都是 320 過（38／30 FPS）；下一個解析度連續跑不過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658368"/>
          </a:xfrm>
          <a:prstGeom prst="roundRect">
            <a:avLst>
              <a:gd name="adj" fmla="val 1388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605272"/>
            <a:ext cx="10271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判準比量測早：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途中補定的細節、662 的補量協定，也都在對應量測之前 commit——時間可以從 git 紀錄查到（備答有時間線）。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 0.861 不是進步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新規則讓薊馬葉害的框變大 1.36 倍，而 AP50 只要重疊 ≥ 0.5 就算對——框愈大愈容易算對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126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4592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60920" y="17556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2048256"/>
            <a:ext cx="3916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0.810 → 0.861</a:t>
            </a:r>
            <a:pPr indent="0" marL="0">
              <a:buNone/>
            </a:pPr>
            <a:r>
              <a:rPr lang="en-US" sz="14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進步 0.05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086600" y="292608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60920" y="3035808"/>
            <a:ext cx="3916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但其中 +0.044 是薊馬葉害一類貢獻的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338328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它自己 test 升了 +0.394，除以 9 類就是 +0.044。框變大、更容易命中，不是模型變好。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4206240"/>
            <a:ext cx="4465015" cy="1234440"/>
          </a:xfrm>
          <a:prstGeom prst="roundRect">
            <a:avLst>
              <a:gd name="adj" fmla="val 740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60920" y="431596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拿掉它，只看標註沒變的八類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4645152"/>
            <a:ext cx="3916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0.8527 → 0.8508，等於沒變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要報 0.861 時，一定要同時說「新標註約定下、不能跟舊數字比」。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部署：三台裝置、同一套方法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解析度的 FPS　·　門檻 25 FPS（每張 40 ms）　·　相機預覽最多每秒 30 張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75564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662（入門手機）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2996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不成立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3230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本來就只有 15–16 FPS，連續跑也不變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2944368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305409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 平板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32841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73075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512 短時間 25 FPS 過線，連續跑剩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4242816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35254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8 Gen 2 手機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626864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0292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28 FPS 過線，連續跑剩 19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7150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兩台高階機都只到 320。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與這兩台之間的中階裝置沒有量——界線在哪裡，現在不知道。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每張毫秒數，是模型本身的上限，不含相機取像與畫框　·　逐解析度、GPU、NNAPI 見備答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多講一分鐘：為什麼要量「連續跑」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段、每段約 30 秒的平均延遲（ms）——越高越慢，40 ms 以上就不及格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720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755648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· 512 解析度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11680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→ 16 FPS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432304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 30 秒表面 35 → 47 °C，開始降頻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2944368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054096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· 416 解析度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310128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→ 19 FPS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30752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沒有過熱，第 3 段起整段掉到另一個檔位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4242816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36992" y="4352544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· 320 解析度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08576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→ 16 FPS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5029200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段完全沒變慢，只是本來就太慢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65099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05856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跑得越快的晶片，連續跑掉得越多：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1.6–1.7 倍、手機 1.05–1.4 倍、662 不掉。只看短時間的數字，會以為高階機的下一個解析度也可以做即時辨識。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042416"/>
            <a:ext cx="10042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高階機開即時辨識（320），其他只做拍照辨識。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還需要：決定怎麼界定「高階」——662 與兩台高階機之間的中階裝置沒有量，界線在哪裡不知道。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98768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全部只做拍照辨識。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不需要再量：三台結果寫進報告，當作實測上限。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這是產品決策——技術面三台都量清楚了。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與決策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有了這個上限，才能在三個組合之間選：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fp32@320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0604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5196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5196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w8a32@640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6908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選定之後只需要把 v5.7 的權重重新匯出那一個組合、重評精度。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需要：團隊給「按下快門後多久要出結果」的上限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78728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8768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98768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43200"/>
            <a:ext cx="46328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工程手段已經用盡：改架構、放大模型、調匯出參數、加外部照片，全部量過都沒用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剩下有依據的只有兩件：量介殼蟲的框一致性（兩人各半小時），或補拍同域照片（約 353 張）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不追的話，剩下的時間用來收尾文件與報告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依決策結果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1 選「做」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決定裝置分級的方式；需要的話量一支中階機，用同一份判準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938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有上限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選定拍照模式的組合，以 v5.7 權重重新匯出並重評精度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50757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選「追」→ 發派介殼蟲的一致性測試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選「不追」→ 收尾文件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7490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已完成：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8300、Snapdragon 8 Gen 2、三台整合三篇實機測試報告已推上報告庫；報告庫的 09-13 週報已補入高階裝置，並新增給教授與評審看的成果總覽 SUMMARY.md。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571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2803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已經有結論、不要再花時間的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30368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模型架構與損失改動　·　放大模型　·　官方匯出參數　·　662 上的即時辨識　·　NNAPI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影像合成與生成　·　自動標註（色彩門檻找框、以現有模型預標）　·　外部影像（除非拿得到同域照片）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刪除薊馬葉害　·　只憑短時間量測下即時辨識的結論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以下幾頁是被問到才翻的資料　·　三台數據總表、GPU 與 NNAPI、判準時間線、常見提問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三台 Benchmark 總表（FPS）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 8 個 fp32 檔案、同一套量測方法　·　延遲與 mAP50 都來自 v11.5 權重的匯出檔，交付的 v5.7 尚未重新匯出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  <a:gridCol w="1170432"/>
                <a:gridCol w="1145743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組合（end2end 開）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28.2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fp32@512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 · end2end 關 · GPU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不成立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平板比 662 快 4.3–4.5 倍，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各解析度一致，差距是純算力。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55868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0188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手機只快 2.1–3.2 倍，320 最吃虧；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閒置時 CPU 頻率上限就只有 50–59%，原因未查明。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有效延遲（end2end 關另加 2 ms）；短時間取 3 輪最快、連續跑取最後 3 段最慢　·　「沒量」是依計畫只量指定組合，不是失敗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與 NNAPI：只有高階機的 GPU 有用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fp32@640、end2end 關：GPU 延遲 ÷ CPU 延遲（小於 1 才是變快）　·　各只量 1 輪，不構成判定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45920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end2end 決定 GPU 能不能整張接手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關掉時 511/511 個節點全交給 GPU；開著只有 54/559，偵測頭的算子不被支援。三台一致。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2679192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770632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在兩台高階機約 31 ms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081528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31.8、手機 30.6 ms，是唯一「精度最高又在 40 ms 內」的組合；662 整張交給 GPU 仍是 282 ms，沒變快。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55080" y="3712464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803904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但還不能用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114800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只量 1 輪、沒有連續跑、GPU 管線的後處理成本沒量——要另外登記一份計畫再量。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355080" y="4745736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837176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NNAPI 三台都不用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148072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與手機只有 Android 內建的參考實作、沒生效；平板交給 MediaTek 加速器反而慢 1.7–5.4 倍。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判準都比量測早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每一條都可以從 git 紀錄或登記文件查到時間（與報告庫週報表 2-1 一致）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3677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36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727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2026-08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15727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標註一致性門檻：兩人中位 IoU ≥ 0.85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5727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 計畫書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57276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才量工作包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12140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8541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185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09-11 上午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214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v12.2 即時辨識採用門檻登記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66747bd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12140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同日下午才量 662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67004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73405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734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23:44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6700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薊馬葉害「一張葉子一個框」重測規則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2914698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67004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23:51、23:53 才有重測結果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21868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28269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2186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凌晨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21868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外部影像增益 0.04、矛盾門檻 0.165（驗收文件）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2186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fc729a9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21868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之後才訓練兩臂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76732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383133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3831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37673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18:40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3767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v12.3 高階裝置門檻，新增「連續跑也要 ≤ 40 ms」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37673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e15e916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76732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18:43 才開始量平板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431596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437997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2960" y="4379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43159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晚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108960" y="43159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取 e2e1、兩組之間冷卻看表面溫度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35240" y="43159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384db65、3e620fd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26880" y="431596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各自在對應那組開跑之前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40080" y="486460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" y="492861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417320" y="48646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22:26 前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08960" y="48646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溫度讀取改為不分廠牌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7635240" y="48646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7f6df28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326880" y="486460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之後才開始量手機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413248"/>
            <a:ext cx="10911535" cy="475488"/>
          </a:xfrm>
          <a:prstGeom prst="roundRect">
            <a:avLst>
              <a:gd name="adj" fmla="val 1923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5477256"/>
            <a:ext cx="347472" cy="34747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2960" y="5477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417320" y="54132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23:49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4132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補量協定登記</a:t>
            </a:r>
            <a:endParaRPr lang="en-US" sz="1350" dirty="0"/>
          </a:p>
        </p:txBody>
      </p:sp>
      <p:sp>
        <p:nvSpPr>
          <p:cNvPr id="58" name="Text 56"/>
          <p:cNvSpPr txBox="1"/>
          <p:nvPr/>
        </p:nvSpPr>
        <p:spPr>
          <a:xfrm>
            <a:off x="7635240" y="54132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b465196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326880" y="5413248"/>
            <a:ext cx="2041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同一分鐘才開始補量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量完之後，判準一條都沒有改。途中補定的都是登記文件沒寫到的細節，而且都寫在結果文件裡。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備答：可能會被問到的（1／2）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標註、模型與部署結論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 比 0.810 高，是不是進步了？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不是。框定義換了，框變大就容易算對；標註沒變的八類平均是 −0.002，等於沒變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那為什麼要換成 v5.7？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舊的薊馬葉害框彼此矛盾，那個類別的數字量到的是標註噪聲；換了之後數字才有解釋力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為什麼不直接刪掉薊馬葉害？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它是唯一符合田間場景的薊馬訊號，刪掉數字也不會變好；改規則重測一次就通過了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外部照片為什麼沒用？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那批是摘下的葉子放白紙上拍，跟田間照差很多，而且 124 張只來自約 20–25 片葉子；加資料的潛葉蛾和沒加資料的油斑病動得一樣多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兩台高階機都過了，是不是可以做即時辨識？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320，而且各只有一台；中階裝置沒有量，界線在哪裡不知道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30 FPS 比平板慢，為什麼也算過？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標準是 40 ms（25 FPS）；手機連續跑最慢的一段是 33.5 ms，還有 6.5 ms 餘裕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Gen 2 比天璣 8300 強，手機為何較慢？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這支手機閒置時 CPU 頻率上限就被壓在一半左右，來源沒查到；照出廠狀態量、不改系統設定，結論只代表這支手機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備答：可能會被問到的（2／2）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裝置差異、662 補量、GPU 與判準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短時間已經過線，為什麼算不行？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即時辨識是一直在跑的；平板 30 秒內就降頻，手機跑到第 3 段就掉檔，連續跑都超過 40 ms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連續跑會不會更慢？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不會。補量時連續跑 10 段都在 63 ms 左右、完全沒變慢；只是本來就只有 16 FPS，離門檻太遠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的舊數字只量一輪，可信嗎？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用跟另外兩台一樣的方法（3 輪交錯）重量過了，8 個檔案差距都在 ±3.1% 以內，結論不變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跑 640 只要約 31 ms，為什麼不用？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只在兩台高階機上成立，662 整張交給 GPU 也沒變快；而且只量一輪、沒連續跑、沒量後處理，要另外登記計畫再量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的結論會改嗎？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不會。662 的問題是晶片速度，換模型、調參數、用 GPU 都補不上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還有辦法讓模型更準嗎？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不拍照片的前提下沒有了；剩下量介殼蟲的標註一致性，或補拍照片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這些判準是不是看完結果才訂的？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不是。每一份判準都比量測早 commit，時間可以從 git 紀錄查到（見前一頁）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需要當場決定的三件事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35915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24028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7004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 → 高階機開 320，要先定分級方式　·　不做 → 全部拍照辨識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354787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47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2900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5876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有了上限才能在 fp32@320、fp32@640、w8a32@640 之間選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473659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736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1772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 → 介殼蟲一致性或補拍照片　·　不追 → 收尾文件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 v12.3</dc:title>
  <dc:subject>PptxGenJS Presentation</dc:subject>
  <dc:creator>Claude Code</dc:creator>
  <cp:lastModifiedBy>Claude Code</cp:lastModifiedBy>
  <cp:revision>1</cp:revision>
  <dcterms:created xsi:type="dcterms:W3CDTF">2026-09-14T07:58:19Z</dcterms:created>
  <dcterms:modified xsi:type="dcterms:W3CDTF">2026-09-14T07:58:19Z</dcterms:modified>
</cp:coreProperties>
</file>