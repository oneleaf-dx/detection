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4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v11.5（v5.6 資料集，舊標註）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0.80959</c:v>
                </c:pt>
                <c:pt idx="1">
                  <c:v>0.85268</c:v>
                </c:pt>
                <c:pt idx="2">
                  <c:v>0.4515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v11.5（v5.7 資料集，新標註）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九類 test mAP50</c:v>
                  </c:pt>
                  <c:pt idx="1">
                    <c:v>八類平均 AP50（標註沒變）</c:v>
                  </c:pt>
                  <c:pt idx="2">
                    <c:v>薊馬葉害 test AP50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0.86118</c:v>
                </c:pt>
                <c:pt idx="1">
                  <c:v>0.85082</c:v>
                </c:pt>
                <c:pt idx="2">
                  <c:v>0.8453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短時間（3 輪最快）</c:v>
                </c:pt>
              </c:strCache>
            </c:strRef>
          </c:tx>
          <c:spPr>
            <a:solidFill>
              <a:srgbClr val="C9DCD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14.9</c:v>
                </c:pt>
                <c:pt idx="1">
                  <c:v>66.6</c:v>
                </c:pt>
                <c:pt idx="2">
                  <c:v>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連續跑 5 分鐘（最慢一段）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15.8</c:v>
                </c:pt>
                <c:pt idx="1">
                  <c:v>38.4</c:v>
                </c:pt>
                <c:pt idx="2">
                  <c:v>29.8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平板 416</c:v>
                </c:pt>
              </c:strCache>
            </c:strRef>
          </c:tx>
          <c:spPr>
            <a:solidFill>
              <a:srgbClr val="E8963C"/>
            </a:solidFill>
            <a:ln w="31750" cap="flat">
              <a:solidFill>
                <a:srgbClr val="E8963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963C"/>
              </a:solidFill>
              <a:ln w="9525" cap="flat">
                <a:solidFill>
                  <a:srgbClr val="E8963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31.64</c:v>
                </c:pt>
                <c:pt idx="1">
                  <c:v>34.01</c:v>
                </c:pt>
                <c:pt idx="2">
                  <c:v>35.83</c:v>
                </c:pt>
                <c:pt idx="3">
                  <c:v>36.93</c:v>
                </c:pt>
                <c:pt idx="4">
                  <c:v>37.72</c:v>
                </c:pt>
                <c:pt idx="5">
                  <c:v>38.97</c:v>
                </c:pt>
                <c:pt idx="6">
                  <c:v>39.22</c:v>
                </c:pt>
                <c:pt idx="7">
                  <c:v>39.78</c:v>
                </c:pt>
                <c:pt idx="8">
                  <c:v>42.63</c:v>
                </c:pt>
                <c:pt idx="9">
                  <c:v>41.63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手機 416</c:v>
                </c:pt>
              </c:strCache>
            </c:strRef>
          </c:tx>
          <c:spPr>
            <a:solidFill>
              <a:srgbClr val="2C5F45"/>
            </a:solidFill>
            <a:ln w="31750" cap="flat">
              <a:solidFill>
                <a:srgbClr val="2C5F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C5F45"/>
              </a:solidFill>
              <a:ln w="9525" cap="flat">
                <a:solidFill>
                  <a:srgbClr val="2C5F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38.64</c:v>
                </c:pt>
                <c:pt idx="1">
                  <c:v>35.81</c:v>
                </c:pt>
                <c:pt idx="2">
                  <c:v>48.67</c:v>
                </c:pt>
                <c:pt idx="3">
                  <c:v>49.35</c:v>
                </c:pt>
                <c:pt idx="4">
                  <c:v>48.65</c:v>
                </c:pt>
                <c:pt idx="5">
                  <c:v>49.09</c:v>
                </c:pt>
                <c:pt idx="6">
                  <c:v>48.78</c:v>
                </c:pt>
                <c:pt idx="7">
                  <c:v>51.68</c:v>
                </c:pt>
                <c:pt idx="8">
                  <c:v>48.67</c:v>
                </c:pt>
                <c:pt idx="9">
                  <c:v>48.74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662 320</c:v>
                </c:pt>
              </c:strCache>
            </c:strRef>
          </c:tx>
          <c:spPr>
            <a:solidFill>
              <a:srgbClr val="8FA79A"/>
            </a:solidFill>
            <a:ln w="31750" cap="flat">
              <a:solidFill>
                <a:srgbClr val="8FA7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FA79A"/>
              </a:solidFill>
              <a:ln w="9525" cap="flat">
                <a:solidFill>
                  <a:srgbClr val="8FA7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62.31</c:v>
                </c:pt>
                <c:pt idx="1">
                  <c:v>62.21</c:v>
                </c:pt>
                <c:pt idx="2">
                  <c:v>63.32</c:v>
                </c:pt>
                <c:pt idx="3">
                  <c:v>62.9</c:v>
                </c:pt>
                <c:pt idx="4">
                  <c:v>62.47</c:v>
                </c:pt>
                <c:pt idx="5">
                  <c:v>64.54</c:v>
                </c:pt>
                <c:pt idx="6">
                  <c:v>63.22</c:v>
                </c:pt>
                <c:pt idx="7">
                  <c:v>63.09</c:v>
                </c:pt>
                <c:pt idx="8">
                  <c:v>63.18</c:v>
                </c:pt>
                <c:pt idx="9">
                  <c:v>63.08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門檻 40 ms</c:v>
                </c:pt>
              </c:strCache>
            </c:strRef>
          </c:tx>
          <c:spPr>
            <a:solidFill>
              <a:srgbClr val="B3453A"/>
            </a:solidFill>
            <a:ln w="31750" cap="flat">
              <a:solidFill>
                <a:srgbClr val="B345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3453A"/>
              </a:solidFill>
              <a:ln w="9525" cap="flat">
                <a:solidFill>
                  <a:srgbClr val="B345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</c:lvl>
              </c:multiLvlStrCache>
            </c:multiLvl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  <c:pt idx="5">
                  <c:v>40</c:v>
                </c:pt>
                <c:pt idx="6">
                  <c:v>40</c:v>
                </c:pt>
                <c:pt idx="7">
                  <c:v>40</c:v>
                </c:pt>
                <c:pt idx="8">
                  <c:v>40</c:v>
                </c:pt>
                <c:pt idx="9">
                  <c:v>40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E6F66"/>
                    </a:solidFill>
                    <a:latin typeface="Microsoft JhengHei"/>
                  </a:defRPr>
                </a:pPr>
                <a:r>
                  <a:rPr sz="1100" b="0" i="0" u="none" strike="noStrike">
                    <a:solidFill>
                      <a:srgbClr val="5E6F66"/>
                    </a:solidFill>
                    <a:latin typeface="Microsoft JhengHei"/>
                  </a:rPr>
                  <a:t>段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2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A2620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GPU ÷ CPU</c:v>
                </c:pt>
              </c:strCache>
            </c:strRef>
          </c:tx>
          <c:spPr>
            <a:solidFill>
              <a:srgbClr val="2C5F4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A2620"/>
                    </a:solidFill>
                    <a:latin typeface="Microsoft Jheng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Snapdragon 662</c:v>
                  </c:pt>
                  <c:pt idx="1">
                    <c:v>天璣 8300 平板</c:v>
                  </c:pt>
                  <c:pt idx="2">
                    <c:v>8 Gen 2 手機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1.05</c:v>
                </c:pt>
                <c:pt idx="1">
                  <c:v>0.52</c:v>
                </c:pt>
                <c:pt idx="2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1A2620"/>
                  </a:solidFill>
                  <a:latin typeface="Microsoft Jheng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620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E4ED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F66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秒】開場先講這句話，再進三個數字。全場骨架：標註修好 → 交付改用 v5.7 資料集重訓（但模型沒變好）→ 即時辨識變成分裝置 → 三個要當場定的決策。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秒】三個數字講完就往下走，不要在這裡展開。5 → 0 是標註（兩人框數不一致的照片數。刻意不放 0.899：那是畫框重疊度、不是準確度，放成大數字容易被誤讀）、−0.002 是模型、38/30/16 是部署，後面各有一頁。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秒】四條線用報告庫週報與 SUMMARY.md 的同一套定義，教授看過總覽再看投影片會對得上。每條只念加粗的結論；部署端是本週的結構性變化，特別點出來。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秒】逐列念「問題 → 標準 → 結果」，不要解釋細節。強調最後一欄都是照事先寫好的後果走。被質疑時翻備答的時間線。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分鐘】看圖：左邊九類變高、中間八類沒動、右邊薊馬葉害跳上去。那一跳是框定義換掉，不是模型能力。模型兩邊都是 v11.5，只換了資料集；換的理由是數字有解釋力，不是分數變高。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分鐘】看右邊三張卡就好：入門機不行、兩台高階機只到 320。圖的重點是灰色（短時間）和綠色（連續跑）的落差——平板落差最大。下一頁講為什麼。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 分 15 秒】指著圖：橘線（平板 416）一路往上爬、第 9 段越過紅線；綠線（手機 416）第 3 段突然跳上去；灰線（662）一直平、而且本來就在紅線上面。平板 416 是 09-15 補量的（原本因精度表寫錯而漏量，見備答）；平板 512 更明顯，連續跑剩 16 FPS。換成畫面感受：相機每秒 30 張，16 FPS 大約每兩張只辨識一張。「掉得越多」的原因（算力高 → 發熱大 → 先降頻）是推測，沒量功耗。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45 秒】把球丟回去。若選「做」，下週的工作是定分級方式；若選「不做」，部署線就此收尾。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30 秒】兩個都是一句話的問題。決策 2 只需要一個秒數；決策 3 若選「追」，最便宜的是介殼蟲一致性，兩人各半小時。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【約 15 秒】這頁講完正文結束，進備答。總長約 8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正文到這裡結束。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被問「模型現在幾分」時翻這頁。先講口徑那一行，再報數字：test mAP50 0.861，但不能跟上週的 0.810 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被問「哪一類最差」「某一類幾分」時翻這頁。紅字是 pooled 最低的三類；介殼蟲最弱，而且它的框一致性從未量過，是精度線唯一還沒走過的便宜路。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被問「資料集多大」「每類幾張」時翻這頁。重點：評估集每類只有 24–76 張，所以逐類分數有 ±2SE；潛葉蛾原始影像最少（201 張）。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被問到「其他解析度呢」「手機為什麼慢」時翻這頁。紅字是短時間過線、連續跑不過的三個組合（平板 416 end2end 關是 09-15 補量）。mAP50 依匯出報告逐變體列出，end2end 關的精度比開著高約 0.01。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被問「GPU 不是比較快嗎」時翻這頁。一句話：高階機上有機會，但要另開一份計畫連同連續跑一起量；662 上 GPU 沒幫助。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被問「是不是看完結果才訂標準」時翻這頁，挑一兩列念 commit 時間就夠。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這頁不用講，被問到再看。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收尾把三個決策再念一次，然後開放討論。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109115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柑橘病蟲害辨識　115 資工四A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27632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階段性進度報告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7860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v12.1 → v12.3　·　2026-09-15　週二下午進度會議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310128"/>
            <a:ext cx="10911535" cy="1828800"/>
          </a:xfrm>
          <a:prstGeom prst="roundRect">
            <a:avLst>
              <a:gd name="adj" fmla="val 5000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529584"/>
            <a:ext cx="10088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這一週把還能改進的每一條路，都用事先寫好的標準量完了。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4078224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標註的問題找到根因並修好、交付權重改用 v5.7 資料集重訓、兩台高階裝置上即時辨識成立——但都只到 320 解析度；不新拍照片的前提下，工程手段已經用盡。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532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7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正文約 8 分鐘　·　備答另計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開場：三個數字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這一週的結論可以壓縮成這三個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→ 0</a:t>
            </a:r>
            <a:pPr algn="l"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張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薊馬葉害兩人各標同樣 20 張，框數不一致的照片數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改成一張葉子一個框後分歧消失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兩人畫框重疊度 0.746 → 0.899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類別保留、全類重標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5274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9594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algn="l" indent="0" marL="0">
              <a:buNone/>
            </a:pP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4679594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交付權重改用 v5.7 資料集訓練後，標註沒變的八類平均 AP50 變化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79594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9594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換資料集是讓數字可信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模型並沒有變好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70469" y="1691640"/>
            <a:ext cx="3381146" cy="3474720"/>
          </a:xfrm>
          <a:prstGeom prst="roundRect">
            <a:avLst>
              <a:gd name="adj" fmla="val 27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44789" y="1920240"/>
            <a:ext cx="283250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38/30/16</a:t>
            </a:r>
            <a:pPr algn="l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FPS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444789" y="2926080"/>
            <a:ext cx="28325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解析度連續跑 5 分鐘後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平板、手機、662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44789" y="3794760"/>
            <a:ext cx="2832506" cy="10973"/>
          </a:xfrm>
          <a:prstGeom prst="rect">
            <a:avLst/>
          </a:prstGeom>
          <a:solidFill>
            <a:srgbClr val="C9DCD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44789" y="3931920"/>
            <a:ext cx="283250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兩台高階機成立、662 不成立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下一個解析度連續跑都不行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進度：四條線的收斂狀態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與報告庫的 09-13 週報表 6-1、成果總覽 SUMMARY.md 同一套定義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3794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3794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556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模型端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174650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連續四輪、十一種改動全部無效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13969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v9 六臂消融零臂通過 2σ 門檻；v12s 放大 3.84 倍參數只換到 +0.003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84378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84378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7614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訓練協定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275234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有效，但修的是可報告的評估精度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14553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固定輪數並報 last.pt，valid 可與 test 併計，逐類 ±2SE 最差值 0.140 → 0.099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849624"/>
            <a:ext cx="493776" cy="493776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3849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76732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部署端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375818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不採用；兩台高階裝置在 320 成立——從「不採用」變成「分裝置」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415137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延遲與精度沒有交集；高階裝置 fp32@320 連續跑 38.4 / 29.8 FPS，下一個解析度被持續負載擋下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4663440"/>
            <a:ext cx="10911535" cy="877824"/>
          </a:xfrm>
          <a:prstGeom prst="roundRect">
            <a:avLst>
              <a:gd name="adj" fmla="val 1041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855464"/>
            <a:ext cx="493776" cy="493776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485546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477316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資料端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063240" y="4764024"/>
            <a:ext cx="8214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外部影像無效；重標有效但未讓模型變好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600200" y="5157216"/>
            <a:ext cx="96770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 +0.021；重標後八類平均 −0.002；工作包 A、B 都已結案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7607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四條線都被預先登記的判準關閉；兩個有效的手段修的是「數字能不能被相信」，沒有一個讓模型變好。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本期回答的七個問題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兩輪標註、兩台高階裝置各併成一列　·　每一個的標準都寫在量測之前，沒有一個是看完結果才決定怎麼算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337560"/>
                <a:gridCol w="2880360"/>
                <a:gridCol w="1950415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事先寫好的標準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結果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所以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上要不要做即時辨識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每張 ≤ 40 ms（25 FPS）且精度 ≥ 0.764 且沒有一類掉超過 0.10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速度全過、精度全不過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只做拍照辨識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薊馬葉害的框能不能畫得一致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兩人重疊度中位數 ≥ 0.85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0.746 → 改規則後 0.899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類別保留，全類重標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外部潛葉蛾照片有沒有用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潛葉蛾 AP50 要多 0.04 以上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+0.021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無效，不交付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重標能不能解除薊馬葉害的矛盾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與 test 差距 &lt; 0.165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−0.202 → +0.121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三輪不收斂的問題解除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高階裝置上能不能做即時辨識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前面三條，再加「連續跑也要 ≤ 40 ms」；兩台同一份標準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兩台都是 320 過（38／30 FPS）；下一個解析度連續跑不過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486400"/>
            <a:ext cx="10911535" cy="658368"/>
          </a:xfrm>
          <a:prstGeom prst="roundRect">
            <a:avLst>
              <a:gd name="adj" fmla="val 13889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5605272"/>
            <a:ext cx="10271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判準比量測早：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途中補定的細節、662 的補量協定，也都在對應量測之前 commit——時間可以從 git 紀錄查到（備答有時間線）。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 0.861 不是進步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新規則讓薊馬葉害的框變大 1.36 倍，而 AP50 只要重疊 ≥ 0.5 就算對——框愈大愈容易算對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12648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86600" y="164592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60920" y="1755648"/>
            <a:ext cx="3916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看起來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2048256"/>
            <a:ext cx="3916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0.810 → 0.861</a:t>
            </a:r>
            <a:pPr indent="0" marL="0">
              <a:buNone/>
            </a:pPr>
            <a:r>
              <a:rPr lang="en-US" sz="14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進步 0.05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086600" y="2926080"/>
            <a:ext cx="4465015" cy="1143000"/>
          </a:xfrm>
          <a:prstGeom prst="roundRect">
            <a:avLst>
              <a:gd name="adj" fmla="val 8000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60920" y="3035808"/>
            <a:ext cx="39163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但其中 +0.044 是薊馬葉害一類貢獻的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360920" y="338328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它自己 test 升了 +0.394，除以 9 類就是 +0.044。框變大、更容易命中，不是模型變好。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086600" y="4206240"/>
            <a:ext cx="4465015" cy="1234440"/>
          </a:xfrm>
          <a:prstGeom prst="roundRect">
            <a:avLst>
              <a:gd name="adj" fmla="val 740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60920" y="431596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拿掉它，只看標註沒變的八類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360920" y="4645152"/>
            <a:ext cx="39163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−0.002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0.8527 → 0.8508，等於沒變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要報 0.861 時，一定要同時說「新標註約定下、不能跟舊數字比」。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部署：三台裝置、同一套方法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解析度的 FPS　·　門檻 25 FPS（每張 40 ms）　·　相機預覽最多每秒 30 張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645920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755648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662（入門手機）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29968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不成立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43230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本來就只有 15–16 FPS，連續跑也不變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452360" y="2944368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3054096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 平板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328416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3730752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416 短時間 37 FPS，連續跑剩 24；512 剩 16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452360" y="4242816"/>
            <a:ext cx="4099255" cy="1161288"/>
          </a:xfrm>
          <a:prstGeom prst="roundRect">
            <a:avLst>
              <a:gd name="adj" fmla="val 787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26680" y="4352544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Snapdragon 8 Gen 2 手機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626864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成立，只到 320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02920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416 短時間 28 FPS 過線，連續跑剩 19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571500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兩台高階機都只到 320。</a:t>
            </a:r>
            <a:pPr indent="0" marL="0">
              <a:buNone/>
            </a:pPr>
            <a:r>
              <a:rPr lang="en-US" sz="14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與這兩台之間的中階裝置沒有量——界線在哪裡，現在不知道。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每張毫秒數，是模型本身的上限，不含相機取像與畫框　·　逐解析度、GPU、NNAPI 見備答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多講一分鐘：為什麼要量「連續跑」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段、每段約 30 秒的平均延遲（ms）——越高越慢，40 ms 以上就不及格　·　平板 416 含 2 ms 後處理保留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7208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645920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36992" y="1755648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· 416 解析度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936992" y="2011680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 → 24 FPS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2432304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 30 秒表面 34 → 47 °C，第 9 段起超線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80960" y="2944368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36992" y="3054096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 · 416 解析度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3310128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→ 19 FPS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936992" y="3730752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沒有過熱，第 3 段起整段掉到另一個檔位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680960" y="4242816"/>
            <a:ext cx="3870655" cy="1161288"/>
          </a:xfrm>
          <a:prstGeom prst="roundRect">
            <a:avLst>
              <a:gd name="adj" fmla="val 787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36992" y="4352544"/>
            <a:ext cx="33585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· 320 解析度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936992" y="4608576"/>
            <a:ext cx="335859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→ 16 FPS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936992" y="5029200"/>
            <a:ext cx="33585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連續 10 段完全沒變慢，只是本來就太慢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40080" y="5650992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5705856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跑得越快的晶片，連續跑掉得越多：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1.6–1.7 倍、手機 1.05–1.4 倍、662 不掉。只看短時間的數字，會以為高階機的下一個解析度也可以做即時辨識。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658368" cy="658368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042416"/>
            <a:ext cx="10042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高階機開即時辨識（320），其他只做拍照辨識。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還需要：決定怎麼界定「高階」——662 與兩台高階機之間的中階裝置沒有量，界線在哪裡不知道。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8728" y="2103120"/>
            <a:ext cx="5272888" cy="2514600"/>
          </a:xfrm>
          <a:prstGeom prst="roundRect">
            <a:avLst>
              <a:gd name="adj" fmla="val 3636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98768" y="228600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不做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598768" y="2852928"/>
            <a:ext cx="46328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全部只做拍照辨識。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356616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不需要再量：三台結果寫進報告，當作實測上限。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02920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這是產品決策——技術面三台都量清楚了。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要在這場會議上決定的事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9115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與決策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7889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有了這個上限，才能在三個組合之間選：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6012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fp32@320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0604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0604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251960" y="3264408"/>
            <a:ext cx="1481328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51960" y="3264408"/>
            <a:ext cx="1481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w8a32@640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06908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選定之後只需要用交付權重（v5.7 資料集訓練）重新匯出那一個組合、重評精度。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49377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需要：團隊給「按下快門後多久要出結果」的上限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78728" y="1691640"/>
            <a:ext cx="5272888" cy="3931920"/>
          </a:xfrm>
          <a:prstGeom prst="roundRect">
            <a:avLst>
              <a:gd name="adj" fmla="val 2326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98768" y="1984248"/>
            <a:ext cx="548640" cy="548640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98768" y="1984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020824"/>
            <a:ext cx="399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43200"/>
            <a:ext cx="4632808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工程手段已經用盡：改架構、放大模型、調匯出參數、加外部照片，全部量過都沒用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剩下有依據的只有兩件：量介殼蟲的框一致性（兩人各半小時），或補拍同域照片（約 353 張）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不追的話，剩下的時間用來收尾文件與報告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下週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依決策結果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1 選「做」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決定裝置分級的方式；需要的話量一支中階機，用同一份判準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83938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58258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58258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2 有上限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58258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選定拍照模式的組合，以交付權重重新匯出並重評精度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423818" cy="1783080"/>
          </a:xfrm>
          <a:prstGeom prst="roundRect">
            <a:avLst>
              <a:gd name="adj" fmla="val 5128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02117" y="1892808"/>
            <a:ext cx="420624" cy="420624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02117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950757" y="1901952"/>
            <a:ext cx="23722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 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4688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選「追」→ 發派介殼蟲的一致性測試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選「不追」→ 收尾文件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10911535" cy="914400"/>
          </a:xfrm>
          <a:prstGeom prst="roundRect">
            <a:avLst>
              <a:gd name="adj" fmla="val 10000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374904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已完成：</a:t>
            </a:r>
            <a:pPr indent="0" marL="0">
              <a:buNone/>
            </a:pPr>
            <a:r>
              <a:rPr lang="en-US" sz="14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天璣 8300、Snapdragon 8 Gen 2、三台整合三篇實機測試報告已推上報告庫；報告庫的 09-13 週報已補入高階裝置，並新增給教授與評審看的成果總覽 SUMMARY.md。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911535" cy="1600200"/>
          </a:xfrm>
          <a:prstGeom prst="roundRect">
            <a:avLst>
              <a:gd name="adj" fmla="val 571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60120" y="4828032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已經有結論、不要再花時間的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60120" y="5230368"/>
            <a:ext cx="102714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模型架構與損失改動　·　放大模型　·　官方匯出參數　·　662 上的即時辨識　·　NNAPI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影像合成與生成　·　自動標註（色彩門檻找框、以現有模型預標）　·　外部影像（除非拿得到同域照片）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刪除薊馬葉害　·　只憑短時間量測下即時辨識的結論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37744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364992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以下幾頁是被問到才翻的資料　·　交付模型與資料集、三台數據總表、GPU 與 NNAPI、判準時間線、常見提問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交付模型 v11.5（v5.7 資料集）：規格與指標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v5.7 是資料集版本，訓練碼與架構都是 v11.5（run v5.7_v11_5）　·　valid、test 各 401 張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5760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846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內容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權重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last.pt（5.59 MB）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架構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 yolo26-p2（scale n、end2end、NMS-free），未自訂修改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 類：4 種病害、4 種害蟲、薊馬葉害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資料集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v5.7：train 7,264 / valid 401 / test 401 張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固定 70 輪、patience 0、MuSGD、imgsz 640、batch 20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耗時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Kaggle GPU 約 3.1 小時（每輪約 161 秒，seed 0）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環境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ultralytics 8.4.121（版本釘死）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45920"/>
          <a:ext cx="4876495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097280"/>
                <a:gridCol w="1447495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指標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mAP50-95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0.641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Precision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0.909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Recall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Detection Jaccard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0.727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TP / FP / FN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675 / 118 / 135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八類平均 AP50（標註未變動）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0.851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40080" y="5486400"/>
            <a:ext cx="10911535" cy="713232"/>
          </a:xfrm>
          <a:prstGeom prst="roundRect">
            <a:avLst>
              <a:gd name="adj" fmla="val 12821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14400" y="5541264"/>
            <a:ext cx="103628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345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口徑：</a:t>
            </a:r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九類 test mAP50 0.861 不可與上一版（v5.6 資料集）的 0.810 相比（薊馬葉害換了框定義）；標註沒變的八類平均 0.853 → 0.851，等於沒變。手機上的 TFLite 仍是 v11.5（v5.6 資料集）權重匯出。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Precision／Recall 取自 ultralytics val()（conf 0.001）；Jaccard 與 TP／FP／FN 取自混淆矩陣（conf 0.25），兩者不在同一工作點　·　來源 docs/v5.7_報告_交付與研究限制.md §1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交付模型 v11.5（v5.7 資料集）：九類逐類 AP50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valid＋test 併計（pooled，802 張）；九類 ±2SE 全部 ≤ 0.10　·　依 pooled 由高到低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914400"/>
                <a:gridCol w="914400"/>
                <a:gridCol w="960120"/>
                <a:gridCol w="868680"/>
                <a:gridCol w="1188720"/>
                <a:gridCol w="3322015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pooled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±2SE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評估圖 v / t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備註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Sooty_Mold（煤煙病）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0.9950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0.0210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 / 32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Black_Spot（黑點病）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0.9603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0.9454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0.9528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0.0304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 / 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Oily_Spot（油斑病）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0.9430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0.9533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0.9482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0.0156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/ 24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Aphid（蚜蟲）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0.8974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0.9615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0.9297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0.0341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 / 76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Canker（潰瘍病）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0.9282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0.8809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0.9045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0.0431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 / 24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框最多的一類（train 6,489 框）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Thrips_Damage（薊馬葉害）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0.7243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0.8453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0.7848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0.0825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 / 40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新約定（一葉一框），不可跨版比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Citrus_Leaf_Miner（潛葉蛾）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0.7931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0.6875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0.7403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0.0990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 / 45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±2SE 最寬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Thrips（薊馬）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0.6453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0.7626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0.7040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0.0969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 / 60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蟲體來源含圖鑑、微距特寫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Scale_Insect（介殼蟲）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0.5452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0.7190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0.6321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0.0490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 / 35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最弱；框一致性從未量過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60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數字取自 last.pt（valid 未參與任何決策，才能與 test 併計）　·　逐類雜訊地板 ±0.04、run 間全距 0.021，小於這個幅度不解讀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資料集 v5.7：組成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v5.6 只差薊馬葉害 208 張重標（一張葉子一個框，245 → 215 框）；其餘八類逐位元相同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72768"/>
          <a:ext cx="10911535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1051560"/>
                <a:gridCol w="1051560"/>
                <a:gridCol w="1051560"/>
                <a:gridCol w="868680"/>
                <a:gridCol w="868680"/>
                <a:gridCol w="1188720"/>
                <a:gridCol w="1143000"/>
                <a:gridCol w="1264615"/>
              </a:tblGrid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類別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原始圖數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原始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增強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 圖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train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valid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test 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Oily_Spot（油斑病）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Canker（潰瘍病）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579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6,489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167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Sooty_Mold（煤煙病）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261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783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1,036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Black_Spot（黑點病）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Scale_Insect（介殼蟲）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3,427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Citrus_Leaf_Miner（潛葉蛾）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333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Thrips（薊馬）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554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434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493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1,317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97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Aphid（蚜蟲）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655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3,284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212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Thrips_Damage（薊馬葉害）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128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8963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Background（負樣本）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合計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3,475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2,673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4,591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401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18,046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863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812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788152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原始圖數為不重複的原始影像；train 圖 = 原始 ＋ 增強（增強只做在 train，各類佔 45–75%）　·　跨 split 近重複 0 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九類 pooled ±2SE ≤ 0.10（最差潛葉蛾 0.099）　·　Canker 佔 train 框 36%（類別不平衡沿襲 v5.5）　·　橘字為本版重標後的薊馬葉害框數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三台 Benchmark 總表（FPS）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 8 個 fp32 檔案、同一套量測方法　·　延遲與 mAP50 都來自 v11.5（v5.6 資料集）權重的匯出檔，交付權重尚未重新匯出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70432"/>
                <a:gridCol w="1170432"/>
                <a:gridCol w="1170432"/>
                <a:gridCol w="1170432"/>
                <a:gridCol w="1170432"/>
                <a:gridCol w="1170432"/>
                <a:gridCol w="1145743"/>
              </a:tblGrid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組合（未註明者 end2end 開）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短時間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連續跑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mAP50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38.4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32.0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0.780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fp32@416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39.0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28.2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19.3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0.800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fp32@416 · end2end 關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37.1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23.5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20.1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fp32@512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25.4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18.9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0.814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15.9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11.8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0.816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fp32@640 · end2end 關 · GPU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3.5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29.6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30.7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i="1" dirty="0">
                          <a:solidFill>
                            <a:srgbClr val="5E6F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0.826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判定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B345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不成立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C5F45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成立，只到 320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平板比 662 快 4.3–4.5 倍，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各解析度一致，差距是純算力。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255868" y="4983480"/>
            <a:ext cx="5295748" cy="1005840"/>
          </a:xfrm>
          <a:prstGeom prst="roundRect">
            <a:avLst>
              <a:gd name="adj" fmla="val 9091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0188" y="5074920"/>
            <a:ext cx="47471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手機只快 2.1–3.2 倍，320 最吃虧；</a:t>
            </a:r>
            <a:pPr indent="0" marL="0">
              <a:buNone/>
            </a:pPr>
            <a:r>
              <a:rPr lang="en-US" sz="13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閒置時 CPU 頻率上限就只有 50–59%，原因未查明。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291072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FPS = 1000 ÷ 有效延遲（end2end 關另加 2 ms）；短時間取 3 輪最快、連續跑取最後 3 段最慢　·　「沒量」是依計畫只量指定組合，不是失敗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GPU 與 NNAPI：只有高階機的 GPU 有用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fp32@640、end2end 關：GPU 延遲 ÷ CPU 延遲（小於 1 才是變快）　·　各只量 1 輪，不構成判定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3949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355080" y="1645920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737360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end2end 決定 GPU 能不能整張接手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2048256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關掉時 511/511 個節點全交給 GPU；開著只有 54/559，偵測頭的算子不被支援。三台一致。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355080" y="2679192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29400" y="2770632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640 在兩台高階機約 31 ms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3081528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 31.8、手機 30.6 ms，是唯一「精度最高又在 40 ms 內」的組合；662 整張交給 GPU 仍是 282 ms，沒變快。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355080" y="3712464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BEEDF"/>
          </a:solidFill>
          <a:ln w="12700">
            <a:solidFill>
              <a:srgbClr val="FBEE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29400" y="3803904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但還不能用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4114800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只量 1 輪、沒有連續跑、GPU 管線的後處理成本沒量——要另外登記一份計畫再量。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355080" y="4745736"/>
            <a:ext cx="5196535" cy="932688"/>
          </a:xfrm>
          <a:prstGeom prst="roundRect">
            <a:avLst>
              <a:gd name="adj" fmla="val 9804"/>
            </a:avLst>
          </a:prstGeom>
          <a:solidFill>
            <a:srgbClr val="F7E7E2"/>
          </a:solidFill>
          <a:ln w="12700">
            <a:solidFill>
              <a:srgbClr val="F7E7E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629400" y="4837176"/>
            <a:ext cx="4647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NNAPI 三台都不用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148072"/>
            <a:ext cx="4647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與手機只有 Android 內建的參考實作、沒生效；平板交給 MediaTek 加速器反而慢 1.7–5.4 倍。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判準都比量測早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每一條都可以從 git 紀錄或登記文件查到時間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18488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1848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572768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2026-08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1572768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標註一致性門檻：兩人中位 IoU ≥ 0.85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1572768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v11 計畫書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326880" y="1572768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才量工作包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066544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12264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11226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2066544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09-11 上午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066544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v12.2 即時辨識採用門檻登記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066544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66747bd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2066544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同日下午才量 662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2560320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2606040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60604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417320" y="25603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09-12 23:44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2560320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薊馬葉害「一張葉子一個框」重測規則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635240" y="25603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2914698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2560320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23:51、23:53 才有重測結果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0080" y="3054096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3099816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309981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3054096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凌晨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3054096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外部影像增益 0.04、矛盾門檻 0.165（驗收文件）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635240" y="3054096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fc729a9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326880" y="3054096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之後才訓練兩臂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3547872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3593592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3593592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417320" y="3547872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18:40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3108960" y="3547872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v12.3 高階裝置門檻，新增「連續跑也要 ≤ 40 ms」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635240" y="3547872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e15e916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326880" y="3547872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18:43 才開始量平板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4087368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22960" y="4087368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1417320" y="4041648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晚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3108960" y="4041648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320 取 e2e1、兩組之間冷卻看表面溫度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7635240" y="4041648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384db65、3e620fd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9326880" y="4041648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各自在對應那組開跑之前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640080" y="4535424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" y="4581144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822960" y="45811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1417320" y="4535424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22:26 前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3108960" y="4535424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溫度讀取改為不分廠牌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635240" y="4535424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7f6df28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326880" y="4535424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之後才開始量手機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640080" y="5029200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EAF2EC"/>
          </a:solidFill>
          <a:ln w="12700">
            <a:solidFill>
              <a:srgbClr val="EAF2E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2960" y="5074920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2960" y="5074920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1417320" y="50292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09-13 23:49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3108960" y="5029200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662 補量協定登記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7635240" y="50292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b465196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9326880" y="5029200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同一分鐘才開始補量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640080" y="5522976"/>
            <a:ext cx="10911535" cy="429768"/>
          </a:xfrm>
          <a:prstGeom prst="roundRect">
            <a:avLst>
              <a:gd name="adj" fmla="val 21277"/>
            </a:avLst>
          </a:prstGeom>
          <a:solidFill>
            <a:srgbClr val="F6F9F7"/>
          </a:solidFill>
          <a:ln w="12700">
            <a:solidFill>
              <a:srgbClr val="F6F9F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2960" y="5568696"/>
            <a:ext cx="338328" cy="338328"/>
          </a:xfrm>
          <a:prstGeom prst="ellipse">
            <a:avLst/>
          </a:prstGeom>
          <a:solidFill>
            <a:srgbClr val="2C5F45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22960" y="5568696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1417320" y="5522976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09-15 00:00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3108960" y="5522976"/>
            <a:ext cx="44805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平板補量 416 end2end 關（精度按變體更正後最準的組合）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7635240" y="5522976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f2f76d3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9326880" y="5522976"/>
            <a:ext cx="204185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4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00:01 才開始量</a:t>
            </a:r>
            <a:endParaRPr lang="en-US" sz="1250" dirty="0"/>
          </a:p>
        </p:txBody>
      </p:sp>
      <p:sp>
        <p:nvSpPr>
          <p:cNvPr id="67" name="Text 65"/>
          <p:cNvSpPr txBox="1"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量完之後，判準一條都沒有改。途中補定的都是登記文件沒寫到的細節，而且都寫在結果文件裡。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備答：可能會被問到的（1／2）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標註、模型與部署結論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0.861 比 0.810 高，是不是進步了？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不是。框定義換了，框變大就容易算對；標註沒變的八類平均是 −0.002，等於沒變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0.899 是模型的準確度嗎？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不是。那是兩個人各自畫框的重疊度（IoU 中位數），用來判斷標註規則畫不畫得一致，和模型無關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那為什麼要換成 v5.7 資料集？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模型還是 v11.5，只換資料集。舊的薊馬葉害框彼此矛盾，那個類別的數字量到的是標註噪聲；換了之後數字才有解釋力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為什麼不直接刪掉薊馬葉害？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它是唯一符合田間場景的薊馬訊號，刪掉數字也不會變好；改規則重測一次就通過了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外部照片為什麼沒用？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那批是摘下的葉子放白紙上拍，跟田間照差很多，而且 124 張只來自約 20–25 片葉子；加資料的潛葉蛾和沒加資料的油斑病動得一樣多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兩台高階機都過了，是不是可以做即時辨識？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只到 320，而且各只有一台；中階裝置沒有量，界線在哪裡不知道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 30 FPS 比平板慢，為什麼也算過？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標準是 40 ms（25 FPS）；手機連續跑最慢的一段是 33.5 ms，還有 6.5 ms 餘裕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115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備答：可能會被問到的（2／2）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88136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E6F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裝置差異、662 補量、GPU 與判準</a:t>
            </a:r>
            <a:endParaRPr lang="en-US" sz="15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162495"/>
              </a:tblGrid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問題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一句話回答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Gen 2 比天璣 8300 強，手機為何較慢？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這支手機閒置時 CPU 頻率上限就被壓在一半左右，來源沒查到；照出廠狀態量、不改系統設定，結論只代表這支手機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短時間已經過線，為什麼算不行？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即時辨識是一直在跑的；平板 30 秒內就降頻，手機跑到第 3 段就掉檔，連續跑都超過 40 ms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連續跑會不會更慢？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不會。補量時連續跑 10 段都在 63 ms 左右、完全沒變慢；只是本來就只有 16 FPS，離門檻太遠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662 的舊數字只量一輪，可信嗎？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用跟另外兩台一樣的方法（3 輪交錯）重量過了，8 個檔案差距都在 ±3.1% 以內，結論不變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GPU 跑 640 只要約 31 ms，為什麼不用？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只在兩台高階機上成立，662 整張交給 GPU 也沒變快；而且只量一輪、沒連續跑、沒量後處理，要另外登記計畫再量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平板 416 上次沒量，現在呢？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09-15 補量：它是短時間過線中最準的（0.815），當時精度表寫錯才漏掉；照原規則補量，第 9 段起超過 40 ms，平板仍只到 320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還有辦法讓模型更準嗎？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不拍照片的前提下沒有了；剩下量介殼蟲的標註一致性，或補拍照片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2E22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這些判準、數字可信嗎？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262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判準都比量測早 commit（見前一頁）；09-15 凌晨也用原始輸出把數字全核對過一次，更正處見週報 §5.1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C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E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需要當場決定的三件事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10312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35915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3591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24028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要不要依裝置等級開放即時辨識？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7004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做 → 高階機開 320，要先定分級方式　·　不做 → 全部拍照辨識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354787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35478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42900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拍照模式可以接受多久出結果？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85876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有了上限才能在 fp32@320、fp32@640、w8a32@640 之間選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911535" cy="1024128"/>
          </a:xfrm>
          <a:prstGeom prst="roundRect">
            <a:avLst>
              <a:gd name="adj" fmla="val 8929"/>
            </a:avLst>
          </a:prstGeom>
          <a:solidFill>
            <a:srgbClr val="17402F"/>
          </a:solidFill>
          <a:ln w="12700">
            <a:solidFill>
              <a:srgbClr val="1740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4736592"/>
            <a:ext cx="512064" cy="512064"/>
          </a:xfrm>
          <a:prstGeom prst="ellipse">
            <a:avLst/>
          </a:prstGeom>
          <a:solidFill>
            <a:srgbClr val="E8963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736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E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617720"/>
            <a:ext cx="95399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剩下的時間要不要繼續追模型精度？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5047488"/>
            <a:ext cx="9539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4B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 → 介殼蟲一致性或補拍照片　·　不追 → 收尾文件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技術面三台都量清楚了。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柑橘病蟲害辨識 階段性進度報告 v12.3</dc:title>
  <dc:subject>PptxGenJS Presentation</dc:subject>
  <dc:creator>Claude Code</dc:creator>
  <cp:lastModifiedBy>Claude Code</cp:lastModifiedBy>
  <cp:revision>1</cp:revision>
  <dcterms:created xsi:type="dcterms:W3CDTF">2026-09-14T16:16:58Z</dcterms:created>
  <dcterms:modified xsi:type="dcterms:W3CDTF">2026-09-14T16:16:58Z</dcterms:modified>
</cp:coreProperties>
</file>